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465" r:id="rId3"/>
    <p:sldId id="439" r:id="rId4"/>
    <p:sldId id="440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59" r:id="rId24"/>
    <p:sldId id="460" r:id="rId25"/>
    <p:sldId id="461" r:id="rId26"/>
    <p:sldId id="462" r:id="rId27"/>
    <p:sldId id="463" r:id="rId28"/>
    <p:sldId id="464" r:id="rId29"/>
    <p:sldId id="466" r:id="rId30"/>
    <p:sldId id="467" r:id="rId31"/>
    <p:sldId id="438" r:id="rId32"/>
    <p:sldId id="266" r:id="rId33"/>
    <p:sldId id="437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9" autoAdjust="0"/>
    <p:restoredTop sz="95501" autoAdjust="0"/>
  </p:normalViewPr>
  <p:slideViewPr>
    <p:cSldViewPr snapToGrid="0">
      <p:cViewPr varScale="1">
        <p:scale>
          <a:sx n="92" d="100"/>
          <a:sy n="92" d="100"/>
        </p:scale>
        <p:origin x="3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67AE6-D6D6-4899-AFF3-4C9EB5BE87A1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998BB-ED5A-4970-8E1B-6A8216F261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376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629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2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32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17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2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10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90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89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60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50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41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632C1-689E-4130-B7D4-A8F24E84E736}" type="datetimeFigureOut">
              <a:rPr lang="ru-RU" smtClean="0"/>
              <a:t>03.02.2022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E272C-2F34-45C1-901E-A542950902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78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igslide.ru/images/51/50961/960/img12.jpg" TargetMode="External"/><Relationship Id="rId7" Type="http://schemas.openxmlformats.org/officeDocument/2006/relationships/hyperlink" Target="http://900igr.net/up/datas/221400/029.jpg" TargetMode="External"/><Relationship Id="rId2" Type="http://schemas.openxmlformats.org/officeDocument/2006/relationships/hyperlink" Target="https://studfiles.net/html/2706/610/html_1t7827cn0P.AOQ6/htmlconvd-5FjQl116x1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klikglodok.com/toko/19948-thickbox_default/jual-harga-allied-telesis-switch-16-port-gigabit-10-100-1000-unmanaged-at-gs900-16.jpg" TargetMode="External"/><Relationship Id="rId5" Type="http://schemas.openxmlformats.org/officeDocument/2006/relationships/hyperlink" Target="https://1.bp.blogspot.com/-qptz15WfEJE/XDoN736gSvI/AAAAAAAAAU8/ESDrBE1iP-0vt5keIdxrnh_Y6ZpF2_2tQCLcBGAs/s1600/Hybrid-Network.jpg" TargetMode="External"/><Relationship Id="rId4" Type="http://schemas.openxmlformats.org/officeDocument/2006/relationships/hyperlink" Target="https://bigslide.ru/images/51/50961/960/img11.jpg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mailto:asoloduhin@kait20.ru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64339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sz="4400" dirty="0" smtClean="0"/>
              <a:t>МДК.01.01 </a:t>
            </a:r>
            <a:br>
              <a:rPr lang="ru-RU" sz="4400" dirty="0" smtClean="0"/>
            </a:br>
            <a:r>
              <a:rPr lang="ru-RU" sz="4400" b="1" dirty="0" smtClean="0"/>
              <a:t>Организация, принципы построения и функционирования компьютерных сетей</a:t>
            </a:r>
            <a:br>
              <a:rPr lang="ru-RU" sz="4400" b="1" dirty="0" smtClean="0"/>
            </a:br>
            <a:r>
              <a:rPr lang="ru-RU" sz="3100" b="1" dirty="0"/>
              <a:t>3</a:t>
            </a:r>
            <a:r>
              <a:rPr lang="ru-RU" sz="3100" b="1" dirty="0" smtClean="0"/>
              <a:t>-курс</a:t>
            </a:r>
            <a:endParaRPr lang="ru-RU" sz="31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399666"/>
            <a:ext cx="9144000" cy="627062"/>
          </a:xfrm>
        </p:spPr>
        <p:txBody>
          <a:bodyPr/>
          <a:lstStyle/>
          <a:p>
            <a:r>
              <a:rPr lang="ru-RU" dirty="0" smtClean="0"/>
              <a:t>Занятие 04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268185" y="2871623"/>
            <a:ext cx="9655629" cy="13437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/>
              <a:t>Практические занятия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196695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одзаголовок 2"/>
          <p:cNvSpPr txBox="1">
            <a:spLocks/>
          </p:cNvSpPr>
          <p:nvPr/>
        </p:nvSpPr>
        <p:spPr>
          <a:xfrm>
            <a:off x="611744" y="758196"/>
            <a:ext cx="10729356" cy="19611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Организация отказоустойчивой сети. </a:t>
            </a:r>
          </a:p>
          <a:p>
            <a:pPr marL="0" indent="0">
              <a:buNone/>
            </a:pPr>
            <a:r>
              <a:rPr lang="ru-RU" dirty="0" smtClean="0"/>
              <a:t>Рассмотри топологию «звезда», когда коммутаторы 2-го уровня (2960) подключаются к коммутатору 3-го уровня (3560), например, при создании сети в многоэтажных зданиях.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7951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578922" y="961571"/>
            <a:ext cx="11034156" cy="19611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Подсоединим каждый из коммутаторов (2960) к центральному коммутатору двумя портами, используя динамическое агрегирование.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974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357744" y="1215396"/>
            <a:ext cx="5585856" cy="19611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Для этого зайдём в настройки 3560 в режим глобального конфигурирования.</a:t>
            </a:r>
            <a:endParaRPr lang="ru-RU" dirty="0"/>
          </a:p>
        </p:txBody>
      </p:sp>
      <p:sp>
        <p:nvSpPr>
          <p:cNvPr id="6" name="Стрелка вправо 5"/>
          <p:cNvSpPr/>
          <p:nvPr/>
        </p:nvSpPr>
        <p:spPr>
          <a:xfrm>
            <a:off x="2717800" y="2922578"/>
            <a:ext cx="254000" cy="25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53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одзаголовок 2"/>
          <p:cNvSpPr txBox="1">
            <a:spLocks/>
          </p:cNvSpPr>
          <p:nvPr/>
        </p:nvSpPr>
        <p:spPr>
          <a:xfrm>
            <a:off x="370444" y="4860296"/>
            <a:ext cx="7338456" cy="6642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Выполним команду: «</a:t>
            </a:r>
            <a:r>
              <a:rPr lang="en-US" dirty="0" smtClean="0"/>
              <a:t>Interface range fa0/1-2</a:t>
            </a:r>
            <a:r>
              <a:rPr lang="ru-RU" dirty="0" smtClean="0"/>
              <a:t>».</a:t>
            </a:r>
            <a:endParaRPr lang="ru-RU" dirty="0"/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0" y="1164596"/>
            <a:ext cx="7338456" cy="15151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Создадим наш первый </a:t>
            </a:r>
          </a:p>
          <a:p>
            <a:pPr marL="0" indent="0">
              <a:buNone/>
            </a:pPr>
            <a:r>
              <a:rPr lang="ru-RU" dirty="0" smtClean="0"/>
              <a:t>агрегированный канал,</a:t>
            </a:r>
          </a:p>
          <a:p>
            <a:pPr marL="0" indent="0">
              <a:buNone/>
            </a:pPr>
            <a:r>
              <a:rPr lang="ru-RU" dirty="0" smtClean="0"/>
              <a:t>используя порты </a:t>
            </a:r>
            <a:r>
              <a:rPr lang="en-US" dirty="0" smtClean="0"/>
              <a:t>FastEthernet0/1</a:t>
            </a:r>
            <a:r>
              <a:rPr lang="ru-RU" dirty="0" smtClean="0"/>
              <a:t>, …</a:t>
            </a:r>
            <a:r>
              <a:rPr lang="en-US" dirty="0" smtClean="0"/>
              <a:t>0/2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888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293172" y="3479800"/>
            <a:ext cx="11072256" cy="314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Указываем протокол.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Выбираем: «</a:t>
            </a:r>
            <a:r>
              <a:rPr lang="en-US" dirty="0" smtClean="0"/>
              <a:t>channel-protocol</a:t>
            </a:r>
            <a:r>
              <a:rPr lang="ru-RU" dirty="0" smtClean="0"/>
              <a:t>», </a:t>
            </a:r>
          </a:p>
          <a:p>
            <a:pPr marL="0" indent="0">
              <a:buNone/>
            </a:pPr>
            <a:r>
              <a:rPr lang="ru-RU" dirty="0"/>
              <a:t>с</a:t>
            </a:r>
            <a:r>
              <a:rPr lang="ru-RU" dirty="0" smtClean="0"/>
              <a:t>тавим «?».</a:t>
            </a:r>
          </a:p>
          <a:p>
            <a:pPr marL="0" indent="0">
              <a:buNone/>
            </a:pPr>
            <a:r>
              <a:rPr lang="ru-RU" dirty="0" smtClean="0"/>
              <a:t>Из предложенных вариантов выбираем «</a:t>
            </a:r>
            <a:r>
              <a:rPr lang="en-US" dirty="0" err="1" smtClean="0"/>
              <a:t>lacp</a:t>
            </a:r>
            <a:r>
              <a:rPr lang="ru-RU" dirty="0" smtClean="0"/>
              <a:t>»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4333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140772" y="3429000"/>
            <a:ext cx="11072256" cy="3162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Создаём «группу 1».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Выбираем: </a:t>
            </a:r>
          </a:p>
          <a:p>
            <a:pPr marL="0" indent="0">
              <a:buNone/>
            </a:pPr>
            <a:r>
              <a:rPr lang="ru-RU" dirty="0" smtClean="0"/>
              <a:t>«</a:t>
            </a:r>
            <a:r>
              <a:rPr lang="en-US" dirty="0" smtClean="0"/>
              <a:t>channel-group 1 mode active</a:t>
            </a:r>
            <a:r>
              <a:rPr lang="ru-RU" dirty="0" smtClean="0"/>
              <a:t>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Видим, что создался интерфейс: «</a:t>
            </a:r>
            <a:r>
              <a:rPr lang="en-US" dirty="0" smtClean="0"/>
              <a:t>Port-channel  1</a:t>
            </a:r>
            <a:r>
              <a:rPr lang="ru-RU" dirty="0" smtClean="0"/>
              <a:t>».</a:t>
            </a:r>
            <a:r>
              <a:rPr lang="en-US" dirty="0" smtClean="0"/>
              <a:t> </a:t>
            </a:r>
            <a:r>
              <a:rPr lang="ru-RU" dirty="0" smtClean="0"/>
              <a:t>Выходим: «</a:t>
            </a:r>
            <a:r>
              <a:rPr lang="en-US" dirty="0" smtClean="0"/>
              <a:t>exit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219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1228096"/>
            <a:ext cx="7338456" cy="14008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Аналогично создадим второй </a:t>
            </a:r>
          </a:p>
          <a:p>
            <a:pPr marL="0" indent="0">
              <a:buNone/>
            </a:pPr>
            <a:r>
              <a:rPr lang="ru-RU" dirty="0" smtClean="0"/>
              <a:t>агрегированный канал,</a:t>
            </a:r>
          </a:p>
          <a:p>
            <a:pPr marL="0" indent="0">
              <a:buNone/>
            </a:pPr>
            <a:r>
              <a:rPr lang="ru-RU" dirty="0"/>
              <a:t>используя порты </a:t>
            </a:r>
            <a:r>
              <a:rPr lang="en-US" dirty="0" smtClean="0"/>
              <a:t>FastEthernet0/</a:t>
            </a:r>
            <a:r>
              <a:rPr lang="ru-RU" dirty="0" smtClean="0"/>
              <a:t>3, </a:t>
            </a:r>
            <a:r>
              <a:rPr lang="ru-RU" dirty="0"/>
              <a:t>…</a:t>
            </a:r>
            <a:r>
              <a:rPr lang="en-US" dirty="0" smtClean="0"/>
              <a:t>0/</a:t>
            </a:r>
            <a:r>
              <a:rPr lang="ru-RU" dirty="0" smtClean="0"/>
              <a:t>4.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370444" y="4860296"/>
            <a:ext cx="7338456" cy="6642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Выполним команду: «</a:t>
            </a:r>
            <a:r>
              <a:rPr lang="en-US" dirty="0" smtClean="0"/>
              <a:t>Interface range fa0/</a:t>
            </a:r>
            <a:r>
              <a:rPr lang="ru-RU" dirty="0" smtClean="0"/>
              <a:t>3</a:t>
            </a:r>
            <a:r>
              <a:rPr lang="en-US" dirty="0" smtClean="0"/>
              <a:t>-</a:t>
            </a:r>
            <a:r>
              <a:rPr lang="ru-RU" dirty="0" smtClean="0"/>
              <a:t>4».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1718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67772" y="4457700"/>
            <a:ext cx="11072256" cy="309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Также указываем протокол.</a:t>
            </a:r>
          </a:p>
          <a:p>
            <a:pPr marL="0" indent="0">
              <a:buNone/>
            </a:pPr>
            <a:r>
              <a:rPr lang="ru-RU" dirty="0" smtClean="0"/>
              <a:t>Выбираем: «</a:t>
            </a:r>
            <a:r>
              <a:rPr lang="en-US" dirty="0" smtClean="0"/>
              <a:t>channel-protocol </a:t>
            </a:r>
            <a:r>
              <a:rPr lang="en-US" dirty="0" err="1"/>
              <a:t>lacp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918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153472" y="3429000"/>
            <a:ext cx="11072256" cy="302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Создаём «группу 2».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Выбираем: </a:t>
            </a:r>
          </a:p>
          <a:p>
            <a:pPr marL="0" indent="0">
              <a:buNone/>
            </a:pPr>
            <a:r>
              <a:rPr lang="ru-RU" dirty="0" smtClean="0"/>
              <a:t>«</a:t>
            </a:r>
            <a:r>
              <a:rPr lang="en-US" dirty="0" smtClean="0"/>
              <a:t>channel-group </a:t>
            </a:r>
            <a:r>
              <a:rPr lang="ru-RU" dirty="0" smtClean="0"/>
              <a:t>2</a:t>
            </a:r>
            <a:r>
              <a:rPr lang="en-US" dirty="0" smtClean="0"/>
              <a:t> mode active</a:t>
            </a:r>
            <a:r>
              <a:rPr lang="ru-RU" dirty="0" smtClean="0"/>
              <a:t>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Видим, что создался интерфейс: «</a:t>
            </a:r>
            <a:r>
              <a:rPr lang="en-US" dirty="0" smtClean="0"/>
              <a:t>Port-channel  </a:t>
            </a:r>
            <a:r>
              <a:rPr lang="ru-RU" dirty="0" smtClean="0"/>
              <a:t>2».</a:t>
            </a:r>
            <a:r>
              <a:rPr lang="en-US" dirty="0" smtClean="0"/>
              <a:t> </a:t>
            </a:r>
            <a:r>
              <a:rPr lang="ru-RU" dirty="0" smtClean="0"/>
              <a:t>Выходим: «</a:t>
            </a:r>
            <a:r>
              <a:rPr lang="en-US" dirty="0" smtClean="0"/>
              <a:t>exit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8253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1228096"/>
            <a:ext cx="7338456" cy="14008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С</a:t>
            </a:r>
            <a:r>
              <a:rPr lang="ru-RU" dirty="0" smtClean="0"/>
              <a:t>оздадим последний </a:t>
            </a:r>
          </a:p>
          <a:p>
            <a:pPr marL="0" indent="0">
              <a:buNone/>
            </a:pPr>
            <a:r>
              <a:rPr lang="ru-RU" dirty="0" smtClean="0"/>
              <a:t>агрегированный канал,</a:t>
            </a:r>
          </a:p>
          <a:p>
            <a:pPr marL="0" indent="0">
              <a:buNone/>
            </a:pPr>
            <a:r>
              <a:rPr lang="ru-RU" dirty="0"/>
              <a:t>используя порты </a:t>
            </a:r>
            <a:r>
              <a:rPr lang="en-US" dirty="0" smtClean="0"/>
              <a:t>FastEthernet0/</a:t>
            </a:r>
            <a:r>
              <a:rPr lang="ru-RU" dirty="0"/>
              <a:t>5</a:t>
            </a:r>
            <a:r>
              <a:rPr lang="ru-RU" dirty="0" smtClean="0"/>
              <a:t>, </a:t>
            </a:r>
            <a:r>
              <a:rPr lang="ru-RU" dirty="0"/>
              <a:t>…</a:t>
            </a:r>
            <a:r>
              <a:rPr lang="en-US" dirty="0" smtClean="0"/>
              <a:t>0/</a:t>
            </a:r>
            <a:r>
              <a:rPr lang="ru-RU" dirty="0"/>
              <a:t>6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370444" y="4860296"/>
            <a:ext cx="7338456" cy="6642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Выполним команду: «</a:t>
            </a:r>
            <a:r>
              <a:rPr lang="en-US" dirty="0" smtClean="0"/>
              <a:t>Interface range fa0/</a:t>
            </a:r>
            <a:r>
              <a:rPr lang="ru-RU" dirty="0"/>
              <a:t>5</a:t>
            </a:r>
            <a:r>
              <a:rPr lang="en-US" dirty="0" smtClean="0"/>
              <a:t>-</a:t>
            </a:r>
            <a:r>
              <a:rPr lang="ru-RU" dirty="0"/>
              <a:t>6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9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одзаголовок 2"/>
          <p:cNvSpPr txBox="1">
            <a:spLocks/>
          </p:cNvSpPr>
          <p:nvPr/>
        </p:nvSpPr>
        <p:spPr>
          <a:xfrm>
            <a:off x="267772" y="4457700"/>
            <a:ext cx="11072256" cy="18599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Также указываем протокол.</a:t>
            </a:r>
          </a:p>
          <a:p>
            <a:pPr marL="0" indent="0">
              <a:buNone/>
            </a:pPr>
            <a:r>
              <a:rPr lang="ru-RU" dirty="0" smtClean="0"/>
              <a:t>Выбираем: «</a:t>
            </a:r>
            <a:r>
              <a:rPr lang="en-US" dirty="0" smtClean="0"/>
              <a:t>channel-protocol </a:t>
            </a:r>
            <a:r>
              <a:rPr lang="en-US" dirty="0" err="1"/>
              <a:t>lacp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247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153472" y="3429000"/>
            <a:ext cx="11072256" cy="302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Создаём</a:t>
            </a:r>
            <a:r>
              <a:rPr lang="ru-RU" dirty="0" smtClean="0"/>
              <a:t> «группу </a:t>
            </a:r>
            <a:r>
              <a:rPr lang="en-US" dirty="0" smtClean="0"/>
              <a:t>3</a:t>
            </a:r>
            <a:r>
              <a:rPr lang="ru-RU" dirty="0" smtClean="0"/>
              <a:t>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Выбираем: </a:t>
            </a:r>
          </a:p>
          <a:p>
            <a:pPr marL="0" indent="0">
              <a:buNone/>
            </a:pPr>
            <a:r>
              <a:rPr lang="ru-RU" dirty="0" smtClean="0"/>
              <a:t>«</a:t>
            </a:r>
            <a:r>
              <a:rPr lang="en-US" dirty="0" smtClean="0"/>
              <a:t>channel-group </a:t>
            </a:r>
            <a:r>
              <a:rPr lang="en-US" dirty="0"/>
              <a:t>3</a:t>
            </a:r>
            <a:r>
              <a:rPr lang="en-US" dirty="0" smtClean="0"/>
              <a:t> mode active</a:t>
            </a:r>
            <a:r>
              <a:rPr lang="ru-RU" dirty="0" smtClean="0"/>
              <a:t>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Видим, что создался интерфейс: «</a:t>
            </a:r>
            <a:r>
              <a:rPr lang="en-US" dirty="0" smtClean="0"/>
              <a:t>Port-channel  </a:t>
            </a:r>
            <a:r>
              <a:rPr lang="en-US" dirty="0"/>
              <a:t>3</a:t>
            </a:r>
            <a:r>
              <a:rPr lang="ru-RU" dirty="0" smtClean="0"/>
              <a:t>».</a:t>
            </a:r>
            <a:r>
              <a:rPr lang="en-US" dirty="0" smtClean="0"/>
              <a:t> </a:t>
            </a:r>
            <a:r>
              <a:rPr lang="ru-RU" dirty="0" smtClean="0"/>
              <a:t>Выходим: «</a:t>
            </a:r>
            <a:r>
              <a:rPr lang="en-US" dirty="0" smtClean="0"/>
              <a:t>end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7629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67772" y="4864100"/>
            <a:ext cx="11072256" cy="14951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Сохраняем настройки коммутатора: «</a:t>
            </a:r>
            <a:r>
              <a:rPr lang="en-US" dirty="0" smtClean="0"/>
              <a:t>write memory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0334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Стрелка вправо 3"/>
          <p:cNvSpPr/>
          <p:nvPr/>
        </p:nvSpPr>
        <p:spPr>
          <a:xfrm>
            <a:off x="1485900" y="2541578"/>
            <a:ext cx="254000" cy="25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0" y="3214678"/>
            <a:ext cx="6347856" cy="21224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Перейдём в настройки 2960 в режим </a:t>
            </a:r>
            <a:r>
              <a:rPr lang="ru-RU" dirty="0"/>
              <a:t>глобального конфигурирования и </a:t>
            </a:r>
            <a:r>
              <a:rPr lang="ru-RU" dirty="0" smtClean="0"/>
              <a:t>создадим агрегированный </a:t>
            </a:r>
            <a:r>
              <a:rPr lang="ru-RU" dirty="0"/>
              <a:t>канал</a:t>
            </a:r>
            <a:r>
              <a:rPr lang="ru-RU" dirty="0" smtClean="0"/>
              <a:t>, используя </a:t>
            </a:r>
            <a:r>
              <a:rPr lang="ru-RU" dirty="0"/>
              <a:t>порты FastEthernet0/1, </a:t>
            </a:r>
            <a:r>
              <a:rPr lang="ru-RU" dirty="0" smtClean="0"/>
              <a:t>…0/2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116444" y="4967133"/>
            <a:ext cx="7338456" cy="6642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Выполним команду: «</a:t>
            </a:r>
            <a:r>
              <a:rPr lang="en-US" dirty="0" smtClean="0"/>
              <a:t>Interface range fa0/1-2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1375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67772" y="4457700"/>
            <a:ext cx="11072256" cy="17872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Также указываем протокол.</a:t>
            </a:r>
          </a:p>
          <a:p>
            <a:pPr marL="0" indent="0">
              <a:buNone/>
            </a:pPr>
            <a:r>
              <a:rPr lang="ru-RU" dirty="0" smtClean="0"/>
              <a:t>Выбираем: «</a:t>
            </a:r>
            <a:r>
              <a:rPr lang="en-US" dirty="0" smtClean="0"/>
              <a:t>channel-protocol </a:t>
            </a:r>
            <a:r>
              <a:rPr lang="en-US" dirty="0" err="1"/>
              <a:t>lacp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6849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153472" y="3124200"/>
            <a:ext cx="11072256" cy="3162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Создаём «группу 1».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Выбираем: </a:t>
            </a:r>
          </a:p>
          <a:p>
            <a:pPr marL="0" indent="0">
              <a:buNone/>
            </a:pPr>
            <a:r>
              <a:rPr lang="ru-RU" dirty="0" smtClean="0"/>
              <a:t>«</a:t>
            </a:r>
            <a:r>
              <a:rPr lang="en-US" dirty="0" smtClean="0"/>
              <a:t>channel-group 1 mode passive</a:t>
            </a:r>
            <a:r>
              <a:rPr lang="ru-RU" dirty="0" smtClean="0"/>
              <a:t>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Видим, что создался интерфейс: «</a:t>
            </a:r>
            <a:r>
              <a:rPr lang="en-US" dirty="0" smtClean="0"/>
              <a:t>Port-channel  1</a:t>
            </a:r>
            <a:r>
              <a:rPr lang="ru-RU" dirty="0" smtClean="0"/>
              <a:t>».</a:t>
            </a:r>
            <a:r>
              <a:rPr lang="en-US" dirty="0" smtClean="0"/>
              <a:t> </a:t>
            </a:r>
            <a:r>
              <a:rPr lang="ru-RU" dirty="0" smtClean="0"/>
              <a:t>                       Выходим: «</a:t>
            </a:r>
            <a:r>
              <a:rPr lang="en-US" dirty="0" smtClean="0"/>
              <a:t>exit</a:t>
            </a:r>
            <a:r>
              <a:rPr lang="ru-RU" dirty="0" smtClean="0"/>
              <a:t>» и сохраняем конфигурацию: </a:t>
            </a:r>
            <a:r>
              <a:rPr lang="ru-RU" dirty="0"/>
              <a:t>«</a:t>
            </a:r>
            <a:r>
              <a:rPr lang="en-US" dirty="0"/>
              <a:t>write memory</a:t>
            </a:r>
            <a:r>
              <a:rPr lang="ru-RU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2227242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Стрелка вправо 2"/>
          <p:cNvSpPr/>
          <p:nvPr/>
        </p:nvSpPr>
        <p:spPr>
          <a:xfrm>
            <a:off x="2806700" y="2490778"/>
            <a:ext cx="254000" cy="25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0" y="3214678"/>
            <a:ext cx="6347856" cy="21224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Аналогичные действия выполняем для следующего коммутатора, создадим агрегированный </a:t>
            </a:r>
            <a:r>
              <a:rPr lang="ru-RU" dirty="0"/>
              <a:t>канал</a:t>
            </a:r>
            <a:r>
              <a:rPr lang="ru-RU" dirty="0" smtClean="0"/>
              <a:t>, используя </a:t>
            </a:r>
            <a:r>
              <a:rPr lang="ru-RU" dirty="0"/>
              <a:t>порты FastEthernet0/1, </a:t>
            </a:r>
            <a:r>
              <a:rPr lang="ru-RU" dirty="0" smtClean="0"/>
              <a:t>…0/2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16444" y="4967133"/>
            <a:ext cx="7338456" cy="6642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Выполним команду: «</a:t>
            </a:r>
            <a:r>
              <a:rPr lang="en-US" dirty="0" smtClean="0"/>
              <a:t>Interface range fa0/1-2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1736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67772" y="4457700"/>
            <a:ext cx="11072256" cy="2098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Также указываем протокол.</a:t>
            </a:r>
          </a:p>
          <a:p>
            <a:pPr marL="0" indent="0">
              <a:buNone/>
            </a:pPr>
            <a:r>
              <a:rPr lang="ru-RU" dirty="0" smtClean="0"/>
              <a:t>Выбираем: «</a:t>
            </a:r>
            <a:r>
              <a:rPr lang="en-US" dirty="0" smtClean="0"/>
              <a:t>channel-protocol </a:t>
            </a:r>
            <a:r>
              <a:rPr lang="en-US" dirty="0" err="1"/>
              <a:t>lacp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3315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153472" y="3124200"/>
            <a:ext cx="11072256" cy="3162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Создаём «группу 1».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Выбираем: </a:t>
            </a:r>
          </a:p>
          <a:p>
            <a:pPr marL="0" indent="0">
              <a:buNone/>
            </a:pPr>
            <a:r>
              <a:rPr lang="ru-RU" dirty="0" smtClean="0"/>
              <a:t>«</a:t>
            </a:r>
            <a:r>
              <a:rPr lang="en-US" dirty="0" smtClean="0"/>
              <a:t>channel-group 1 mode passive</a:t>
            </a:r>
            <a:r>
              <a:rPr lang="ru-RU" dirty="0" smtClean="0"/>
              <a:t>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Видим, что создался интерфейс: «</a:t>
            </a:r>
            <a:r>
              <a:rPr lang="en-US" dirty="0" smtClean="0"/>
              <a:t>Port-channel  1</a:t>
            </a:r>
            <a:r>
              <a:rPr lang="ru-RU" dirty="0" smtClean="0"/>
              <a:t>».</a:t>
            </a:r>
            <a:r>
              <a:rPr lang="en-US" dirty="0" smtClean="0"/>
              <a:t> </a:t>
            </a:r>
            <a:r>
              <a:rPr lang="ru-RU" dirty="0" smtClean="0"/>
              <a:t>                       Выходим: «</a:t>
            </a:r>
            <a:r>
              <a:rPr lang="en-US" dirty="0" smtClean="0"/>
              <a:t>exit</a:t>
            </a:r>
            <a:r>
              <a:rPr lang="ru-RU" dirty="0" smtClean="0"/>
              <a:t>» и сохраняем конфигурацию: </a:t>
            </a:r>
            <a:r>
              <a:rPr lang="ru-RU" dirty="0"/>
              <a:t>«</a:t>
            </a:r>
            <a:r>
              <a:rPr lang="en-US" dirty="0"/>
              <a:t>write memory</a:t>
            </a:r>
            <a:r>
              <a:rPr lang="ru-RU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4222417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3214678"/>
            <a:ext cx="6347856" cy="21224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Повторяем те же действия для последнего коммутатора, создадим агрегированный </a:t>
            </a:r>
            <a:r>
              <a:rPr lang="ru-RU" dirty="0"/>
              <a:t>канал</a:t>
            </a:r>
            <a:r>
              <a:rPr lang="ru-RU" dirty="0" smtClean="0"/>
              <a:t>, используя </a:t>
            </a:r>
            <a:r>
              <a:rPr lang="ru-RU" dirty="0"/>
              <a:t>порты FastEthernet0/1, </a:t>
            </a:r>
            <a:r>
              <a:rPr lang="ru-RU" dirty="0" smtClean="0"/>
              <a:t>…0/2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Стрелка вправо 3"/>
          <p:cNvSpPr/>
          <p:nvPr/>
        </p:nvSpPr>
        <p:spPr>
          <a:xfrm>
            <a:off x="4114800" y="2605078"/>
            <a:ext cx="254000" cy="25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16444" y="4967133"/>
            <a:ext cx="7338456" cy="6642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Выполним команду: «</a:t>
            </a:r>
            <a:r>
              <a:rPr lang="en-US" dirty="0" smtClean="0"/>
              <a:t>Interface range fa0/1-2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2956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267772" y="4457700"/>
            <a:ext cx="11072256" cy="18911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Также указываем протокол.</a:t>
            </a:r>
          </a:p>
          <a:p>
            <a:pPr marL="0" indent="0">
              <a:buNone/>
            </a:pPr>
            <a:r>
              <a:rPr lang="ru-RU" dirty="0" smtClean="0"/>
              <a:t>Выбираем: «</a:t>
            </a:r>
            <a:r>
              <a:rPr lang="en-US" dirty="0" smtClean="0"/>
              <a:t>channel-protocol </a:t>
            </a:r>
            <a:r>
              <a:rPr lang="en-US" dirty="0" err="1"/>
              <a:t>lacp</a:t>
            </a:r>
            <a:r>
              <a:rPr lang="ru-RU" dirty="0" smtClean="0"/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5902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153472" y="3124200"/>
            <a:ext cx="11072256" cy="3162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Создаём «группу 1».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Выбираем: </a:t>
            </a:r>
          </a:p>
          <a:p>
            <a:pPr marL="0" indent="0">
              <a:buNone/>
            </a:pPr>
            <a:r>
              <a:rPr lang="ru-RU" dirty="0" smtClean="0"/>
              <a:t>«</a:t>
            </a:r>
            <a:r>
              <a:rPr lang="en-US" dirty="0" smtClean="0"/>
              <a:t>channel-group 1 mode passive</a:t>
            </a:r>
            <a:r>
              <a:rPr lang="ru-RU" dirty="0" smtClean="0"/>
              <a:t>».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Видим, что создался интерфейс: «</a:t>
            </a:r>
            <a:r>
              <a:rPr lang="en-US" dirty="0" smtClean="0"/>
              <a:t>Port-channel  1</a:t>
            </a:r>
            <a:r>
              <a:rPr lang="ru-RU" dirty="0" smtClean="0"/>
              <a:t>».</a:t>
            </a:r>
            <a:r>
              <a:rPr lang="en-US" dirty="0" smtClean="0"/>
              <a:t> </a:t>
            </a:r>
            <a:r>
              <a:rPr lang="ru-RU" dirty="0" smtClean="0"/>
              <a:t>                       Выходим: «</a:t>
            </a:r>
            <a:r>
              <a:rPr lang="en-US" dirty="0" smtClean="0"/>
              <a:t>exit</a:t>
            </a:r>
            <a:r>
              <a:rPr lang="ru-RU" dirty="0" smtClean="0"/>
              <a:t>» и сохраняем конфигурацию: </a:t>
            </a:r>
            <a:r>
              <a:rPr lang="ru-RU" dirty="0"/>
              <a:t>«</a:t>
            </a:r>
            <a:r>
              <a:rPr lang="en-US" dirty="0"/>
              <a:t>write memory</a:t>
            </a:r>
            <a:r>
              <a:rPr lang="ru-RU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923609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5844144" y="1081078"/>
            <a:ext cx="6347856" cy="21224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Соединим устройства                           прямым кабелем.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7455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23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6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5844144" y="1081078"/>
            <a:ext cx="6347856" cy="21224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… и т.д.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7652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 txBox="1">
            <a:spLocks/>
          </p:cNvSpPr>
          <p:nvPr/>
        </p:nvSpPr>
        <p:spPr>
          <a:xfrm>
            <a:off x="0" y="3532178"/>
            <a:ext cx="6347856" cy="21224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Зайдём в настройки 3560 в режим </a:t>
            </a:r>
            <a:r>
              <a:rPr lang="ru-RU" dirty="0"/>
              <a:t>глобального </a:t>
            </a:r>
            <a:r>
              <a:rPr lang="ru-RU" dirty="0" smtClean="0"/>
              <a:t>конфигурирования. </a:t>
            </a:r>
            <a:r>
              <a:rPr lang="ru-RU" dirty="0"/>
              <a:t>Выполним команду: </a:t>
            </a:r>
            <a:r>
              <a:rPr lang="ru-RU" dirty="0" smtClean="0"/>
              <a:t>«</a:t>
            </a:r>
            <a:r>
              <a:rPr lang="en-US" dirty="0" smtClean="0"/>
              <a:t>show </a:t>
            </a:r>
            <a:r>
              <a:rPr lang="en-US" dirty="0" err="1" smtClean="0"/>
              <a:t>etherchannel</a:t>
            </a:r>
            <a:r>
              <a:rPr lang="en-US" dirty="0" smtClean="0"/>
              <a:t> summary</a:t>
            </a:r>
            <a:r>
              <a:rPr lang="ru-RU" dirty="0" smtClean="0"/>
              <a:t>», видим наши порты и протокол «</a:t>
            </a:r>
            <a:r>
              <a:rPr lang="en-US" dirty="0" smtClean="0"/>
              <a:t>LACP</a:t>
            </a:r>
            <a:r>
              <a:rPr lang="ru-RU" dirty="0" smtClean="0"/>
              <a:t>».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628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57" y="141514"/>
            <a:ext cx="10296770" cy="61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5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511" y="0"/>
            <a:ext cx="75129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94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5537" y="1709058"/>
            <a:ext cx="11141034" cy="534488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dirty="0"/>
              <a:t>Компьютерные сети. Н.В. Максимов, И.И. Попов, 4-е издание, переработанное и дополненное, «Форум», Москва, 2010.</a:t>
            </a:r>
          </a:p>
          <a:p>
            <a:pPr marL="514350" indent="-514350">
              <a:buAutoNum type="arabicPeriod"/>
            </a:pPr>
            <a:r>
              <a:rPr lang="ru-RU" dirty="0"/>
              <a:t>Компьютерные сети. Принципы, технологии, протоколы, В. </a:t>
            </a:r>
            <a:r>
              <a:rPr lang="ru-RU" dirty="0" err="1"/>
              <a:t>Олифер</a:t>
            </a:r>
            <a:r>
              <a:rPr lang="ru-RU" dirty="0"/>
              <a:t>, Н. </a:t>
            </a:r>
            <a:r>
              <a:rPr lang="ru-RU" dirty="0" err="1"/>
              <a:t>Олифер</a:t>
            </a:r>
            <a:r>
              <a:rPr lang="ru-RU" dirty="0"/>
              <a:t> (5-е издание), «Питер», Москва, </a:t>
            </a:r>
            <a:r>
              <a:rPr lang="ru-RU" dirty="0" err="1"/>
              <a:t>Санк</a:t>
            </a:r>
            <a:r>
              <a:rPr lang="ru-RU" dirty="0"/>
              <a:t>-Петербург, 2016.</a:t>
            </a:r>
          </a:p>
          <a:p>
            <a:pPr marL="514350" indent="-514350">
              <a:buAutoNum type="arabicPeriod"/>
            </a:pPr>
            <a:r>
              <a:rPr lang="ru-RU" dirty="0"/>
              <a:t>Компьютерные сети. Э. </a:t>
            </a:r>
            <a:r>
              <a:rPr lang="ru-RU" dirty="0" err="1"/>
              <a:t>Таненбаум</a:t>
            </a:r>
            <a:r>
              <a:rPr lang="ru-RU" dirty="0"/>
              <a:t>, 4-е издание, «Питер», Москва, </a:t>
            </a:r>
            <a:r>
              <a:rPr lang="ru-RU" dirty="0" err="1"/>
              <a:t>Санк</a:t>
            </a:r>
            <a:r>
              <a:rPr lang="ru-RU" dirty="0"/>
              <a:t>-Петербург, 2003.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097280" y="-108252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/>
              <a:t>Список литературы</a:t>
            </a:r>
            <a:r>
              <a:rPr lang="ru-RU" sz="40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4582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319645"/>
            <a:ext cx="10515600" cy="4857318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smtClean="0">
                <a:hlinkClick r:id="rId2"/>
              </a:rPr>
              <a:t>https://studfiles.net/html/2706/610/html_1t7827cn0P.AOQ6/htmlconvd-5FjQl116x1.jpg</a:t>
            </a:r>
            <a:endParaRPr lang="ru-RU" sz="1400" dirty="0" smtClean="0"/>
          </a:p>
          <a:p>
            <a:pPr marL="0" indent="0">
              <a:buNone/>
            </a:pPr>
            <a:r>
              <a:rPr lang="en-US" sz="1400" dirty="0" smtClean="0">
                <a:hlinkClick r:id="rId3"/>
              </a:rPr>
              <a:t>https://bigslide.ru/images/51/50961/960/img12.jpg</a:t>
            </a:r>
            <a:endParaRPr lang="ru-RU" sz="1400" dirty="0" smtClean="0"/>
          </a:p>
          <a:p>
            <a:pPr marL="0" indent="0">
              <a:buNone/>
            </a:pPr>
            <a:r>
              <a:rPr lang="en-US" sz="1400" dirty="0" smtClean="0">
                <a:hlinkClick r:id="rId4"/>
              </a:rPr>
              <a:t>https://bigslide.ru/images/51/50961/960/img11.jpg</a:t>
            </a:r>
            <a:endParaRPr lang="ru-RU" sz="1400" dirty="0" smtClean="0"/>
          </a:p>
          <a:p>
            <a:pPr marL="0" indent="0">
              <a:buNone/>
            </a:pPr>
            <a:r>
              <a:rPr lang="en-US" sz="1400" dirty="0" smtClean="0">
                <a:hlinkClick r:id="rId5"/>
              </a:rPr>
              <a:t>https://1.bp.blogspot.com/-qptz15WfEJE/XDoN736gSvI/AAAAAAAAAU8/ESDrBE1iP-0vt5keIdxrnh_Y6ZpF2_2tQCLcBGAs/s1600/Hybrid-Network.jpg</a:t>
            </a:r>
            <a:endParaRPr lang="ru-RU" sz="1400" dirty="0" smtClean="0"/>
          </a:p>
          <a:p>
            <a:pPr marL="0" indent="0">
              <a:buNone/>
            </a:pPr>
            <a:r>
              <a:rPr lang="en-US" sz="1400" dirty="0">
                <a:hlinkClick r:id="rId6"/>
              </a:rPr>
              <a:t>http://</a:t>
            </a:r>
            <a:r>
              <a:rPr lang="en-US" sz="1400" dirty="0" smtClean="0">
                <a:hlinkClick r:id="rId6"/>
              </a:rPr>
              <a:t>www.klikglodok.com/toko/19948-thickbox_default/jual-harga-allied-telesis-switch-16-port-gigabit-10-100-1000-unmanaged-at-gs900-16.jpg</a:t>
            </a:r>
            <a:endParaRPr lang="ru-RU" sz="1400" dirty="0" smtClean="0"/>
          </a:p>
          <a:p>
            <a:pPr marL="0" indent="0">
              <a:buNone/>
            </a:pPr>
            <a:r>
              <a:rPr lang="en-US" sz="1400" dirty="0">
                <a:hlinkClick r:id="rId7"/>
              </a:rPr>
              <a:t>http://</a:t>
            </a:r>
            <a:r>
              <a:rPr lang="en-US" sz="1400" dirty="0" smtClean="0">
                <a:hlinkClick r:id="rId7"/>
              </a:rPr>
              <a:t>900igr.net/up/datas/221400/029.jpg</a:t>
            </a:r>
            <a:endParaRPr lang="ru-RU" sz="1400" dirty="0" smtClean="0"/>
          </a:p>
          <a:p>
            <a:pPr marL="0" indent="0">
              <a:buNone/>
            </a:pPr>
            <a:endParaRPr lang="ru-RU" sz="1400" dirty="0" smtClean="0"/>
          </a:p>
          <a:p>
            <a:pPr marL="0" indent="0">
              <a:buNone/>
            </a:pPr>
            <a:endParaRPr lang="ru-RU" sz="1400" dirty="0" smtClean="0"/>
          </a:p>
          <a:p>
            <a:pPr marL="0" indent="0">
              <a:buNone/>
            </a:pPr>
            <a:endParaRPr lang="ru-RU" sz="1400" dirty="0" smtClean="0"/>
          </a:p>
          <a:p>
            <a:pPr marL="0" indent="0">
              <a:buNone/>
            </a:pPr>
            <a:endParaRPr lang="ru-RU" sz="1400" dirty="0" smtClean="0"/>
          </a:p>
          <a:p>
            <a:pPr marL="0" indent="0">
              <a:buNone/>
            </a:pPr>
            <a:endParaRPr lang="ru-RU" sz="1400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436418" y="-185057"/>
            <a:ext cx="10917382" cy="109999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/>
              <a:t>Список ссылок: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59551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1021080" y="871462"/>
            <a:ext cx="10058400" cy="14507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smtClean="0"/>
              <a:t>Спасибо за внимание!</a:t>
            </a:r>
            <a:endParaRPr lang="ru-RU" sz="4000" b="1" dirty="0"/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1097279" y="4738254"/>
            <a:ext cx="10363893" cy="113083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mtClean="0"/>
              <a:t>Преподаватель:  Солодухин Андрей Геннадьевич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mtClean="0"/>
              <a:t>Электронная почта:  </a:t>
            </a:r>
            <a:r>
              <a:rPr lang="ru-RU" smtClean="0">
                <a:hlinkClick r:id="rId2"/>
              </a:rPr>
              <a:t>asoloduhin@kait20.ru</a:t>
            </a:r>
            <a:endParaRPr lang="ru-RU" smtClean="0"/>
          </a:p>
          <a:p>
            <a:pPr marL="0" indent="0">
              <a:buFont typeface="Arial" panose="020B0604020202020204" pitchFamily="34" charset="0"/>
              <a:buNone/>
            </a:pPr>
            <a:endParaRPr lang="ru-RU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751796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5015</TotalTime>
  <Words>632</Words>
  <Application>Microsoft Office PowerPoint</Application>
  <PresentationFormat>Широкоэкранный</PresentationFormat>
  <Paragraphs>85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Тема Office</vt:lpstr>
      <vt:lpstr>МДК.01.01  Организация, принципы построения и функционирования компьютерных сетей 3-курс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Список литературы:</vt:lpstr>
      <vt:lpstr>Список ссылок:</vt:lpstr>
      <vt:lpstr>Презентация PowerPoint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МДК.01.01  Организация, принципы построения и функционирования компьютерных сетей 3-курс</dc:title>
  <dc:creator>RePack by Diakov</dc:creator>
  <cp:lastModifiedBy>RePack by Diakov</cp:lastModifiedBy>
  <cp:revision>408</cp:revision>
  <dcterms:created xsi:type="dcterms:W3CDTF">2019-09-01T16:25:33Z</dcterms:created>
  <dcterms:modified xsi:type="dcterms:W3CDTF">2022-02-03T10:27:08Z</dcterms:modified>
</cp:coreProperties>
</file>